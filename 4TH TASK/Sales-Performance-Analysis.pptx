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omfortaa Bold"/>
      <p:regular r:id="rId201314"/>
    </p:embeddedFont>
    <p:embeddedFont>
      <p:font typeface="Comfortaa Light"/>
      <p:regular r:id="rId201315"/>
    </p:embeddedFont>
    <p:embeddedFont>
      <p:font typeface="Comfortaa"/>
      <p:regular r:id="rId201316"/>
    </p:embeddedFont>
    <p:embeddedFont>
      <p:font typeface="Comfortaa Medium"/>
      <p:regular r:id="rId201317"/>
    </p:embeddedFont>
    <p:embeddedFont>
      <p:font typeface="Comfortaa SemiBold"/>
      <p:regular r:id="rId201318"/>
    </p:embeddedFont>
    <p:embeddedFont>
      <p:font typeface="Raleway ExtraBold"/>
      <p:regular r:id="rId201319"/>
    </p:embeddedFont>
    <p:embeddedFont>
      <p:font typeface="Raleway Medium"/>
      <p:regular r:id="rId201320"/>
    </p:embeddedFont>
    <p:embeddedFont>
      <p:font typeface="Raleway SemiBold"/>
      <p:regular r:id="rId201321"/>
    </p:embeddedFont>
    <p:embeddedFont>
      <p:font typeface="Raleway Bold"/>
      <p:regular r:id="rId201322"/>
    </p:embeddedFont>
    <p:embeddedFont>
      <p:font typeface="Raleway Black"/>
      <p:regular r:id="rId201323"/>
    </p:embeddedFont>
    <p:embeddedFont>
      <p:font typeface="Raleway Thin"/>
      <p:regular r:id="rId201324"/>
    </p:embeddedFont>
    <p:embeddedFont>
      <p:font typeface="Raleway ExtraLight"/>
      <p:regular r:id="rId201325"/>
    </p:embeddedFont>
    <p:embeddedFont>
      <p:font typeface="Raleway Light"/>
      <p:regular r:id="rId201326"/>
    </p:embeddedFont>
    <p:embeddedFont>
      <p:font typeface="Raleway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1921272"/>
            <a:ext cx="2356684" cy="394395"/>
          </a:xfrm>
          <a:prstGeom prst="roundRect">
            <a:avLst>
              <a:gd name="adj" fmla="val 63834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860007" y="1984177"/>
            <a:ext cx="2714656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APEXPLANET INTERNSHIP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95756" y="1921272"/>
            <a:ext cx="800973" cy="394395"/>
          </a:xfrm>
          <a:prstGeom prst="roundRect">
            <a:avLst>
              <a:gd name="adj" fmla="val 6383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ffe14d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21562" y="1984177"/>
            <a:ext cx="1158945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TASK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4200" y="2399506"/>
            <a:ext cx="7324046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Sales Performance Analysis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734200" y="3066058"/>
            <a:ext cx="7121644" cy="34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Business Intelligence &amp; Statistical Validation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4200" y="3782616"/>
            <a:ext cx="10723294" cy="25400"/>
          </a:xfrm>
          <a:prstGeom prst="roundRect">
            <a:avLst>
              <a:gd name="adj" fmla="val 59999"/>
            </a:avLst>
          </a:prstGeom>
          <a:solidFill>
            <a:srgbClr val="D7D4CC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4200" y="4096345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ApexPlanet Software Pvt. Ltd. — Data Analytics Internship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4200" y="4668044"/>
            <a:ext cx="11332879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Prepared by: Pavvana Sai Shree P 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472605"/>
            <a:ext cx="2940671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Project Context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4200" y="1847850"/>
            <a:ext cx="439488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83193" y="2628602"/>
            <a:ext cx="5969446" cy="2756793"/>
          </a:xfrm>
          <a:prstGeom prst="roundRect">
            <a:avLst>
              <a:gd name="adj" fmla="val 18265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92936" y="2817416"/>
            <a:ext cx="5549960" cy="186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Project Objective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Analyse sales performance, identify revenue drivers, validate business assumptions using statistical analysis, and provide actionable recommendations to support strategic decision-making.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919739" y="2838351"/>
            <a:ext cx="2940671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19739" y="3339505"/>
            <a:ext cx="4544006" cy="1972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1,000 sales transactions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947 unique customers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12 business attributes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Missing values: Age (20), City (13)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Tools: Python, Pandas, Matplotlib, SciPy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004590"/>
            <a:ext cx="316490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4200" y="1379835"/>
            <a:ext cx="433932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KPI Dashboard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4200" y="2160588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snapshot of the five most critical sales performance indicators derived from the dataset.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4200" y="2837160"/>
            <a:ext cx="3399546" cy="69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₹139.4M</a:t>
            </a:r>
            <a:endParaRPr lang="en-US" sz="5450" dirty="0"/>
          </a:p>
        </p:txBody>
      </p:sp>
      <p:sp>
        <p:nvSpPr>
          <p:cNvPr id="6" name="Text 4"/>
          <p:cNvSpPr/>
          <p:nvPr/>
        </p:nvSpPr>
        <p:spPr>
          <a:xfrm>
            <a:off x="1268381" y="3791645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Total Revenue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95975" y="2837160"/>
            <a:ext cx="3399645" cy="69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992</a:t>
            </a:r>
            <a:endParaRPr lang="en-US" sz="5450" dirty="0"/>
          </a:p>
        </p:txBody>
      </p:sp>
      <p:sp>
        <p:nvSpPr>
          <p:cNvPr id="8" name="Text 6"/>
          <p:cNvSpPr/>
          <p:nvPr/>
        </p:nvSpPr>
        <p:spPr>
          <a:xfrm>
            <a:off x="4930255" y="3791645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Total Orders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57849" y="2837160"/>
            <a:ext cx="3399645" cy="69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947</a:t>
            </a:r>
            <a:endParaRPr lang="en-US" sz="5450" dirty="0"/>
          </a:p>
        </p:txBody>
      </p:sp>
      <p:sp>
        <p:nvSpPr>
          <p:cNvPr id="10" name="Text 8"/>
          <p:cNvSpPr/>
          <p:nvPr/>
        </p:nvSpPr>
        <p:spPr>
          <a:xfrm>
            <a:off x="8592129" y="3791645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Unique Customers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5038" y="4607520"/>
            <a:ext cx="3399645" cy="69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₹139K</a:t>
            </a:r>
            <a:endParaRPr lang="en-US" sz="5450" dirty="0"/>
          </a:p>
        </p:txBody>
      </p:sp>
      <p:sp>
        <p:nvSpPr>
          <p:cNvPr id="12" name="Text 10"/>
          <p:cNvSpPr/>
          <p:nvPr/>
        </p:nvSpPr>
        <p:spPr>
          <a:xfrm>
            <a:off x="3099318" y="5562005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Avg Order Value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26912" y="4607520"/>
            <a:ext cx="3399645" cy="69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5,435</a:t>
            </a:r>
            <a:endParaRPr lang="en-US" sz="5450" dirty="0"/>
          </a:p>
        </p:txBody>
      </p:sp>
      <p:sp>
        <p:nvSpPr>
          <p:cNvPr id="14" name="Text 12"/>
          <p:cNvSpPr/>
          <p:nvPr/>
        </p:nvSpPr>
        <p:spPr>
          <a:xfrm>
            <a:off x="6761192" y="5562005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Quantity Sold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05743"/>
            <a:ext cx="2685189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Revenue Breakdown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734200" y="1017290"/>
            <a:ext cx="5854554" cy="399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Category Performance Analysis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822351"/>
            <a:ext cx="4627943" cy="33320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1664" y="1803003"/>
            <a:ext cx="2609189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Findings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21664" y="2207121"/>
            <a:ext cx="5142181" cy="1980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Electronics</a:t>
            </a:r>
            <a:pPr algn="l" marL="284480" indent="-284480">
              <a:lnSpc>
                <a:spcPct val="124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contributed the largest share of total revenue, indicating strong demand and high market potential.</a:t>
            </a:r>
            <a:endParaRPr lang="en-US" sz="1400" dirty="0"/>
          </a:p>
          <a:p>
            <a:pPr algn="l" marL="284480" indent="-284480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Education</a:t>
            </a:r>
            <a:pPr algn="l" marL="284480" indent="-284480">
              <a:lnSpc>
                <a:spcPct val="124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emerged as the second-best performing category with consistent purchasing behaviour.</a:t>
            </a:r>
            <a:endParaRPr lang="en-US" sz="1400" dirty="0"/>
          </a:p>
          <a:p>
            <a:pPr algn="l" marL="284480" indent="-284480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Fashion</a:t>
            </a:r>
            <a:pPr algn="l" marL="284480" indent="-284480">
              <a:lnSpc>
                <a:spcPct val="124000"/>
              </a:lnSpc>
              <a:buSzPct val="100000"/>
              <a:buChar char="•"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generated the lowest revenue, suggesting opportunities for targeted promotional campaigns.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4200" y="5501680"/>
            <a:ext cx="10723294" cy="650577"/>
          </a:xfrm>
          <a:prstGeom prst="roundRect">
            <a:avLst>
              <a:gd name="adj" fmla="val 41494"/>
            </a:avLst>
          </a:prstGeom>
          <a:solidFill>
            <a:srgbClr val="806A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79" y="5746849"/>
            <a:ext cx="224923" cy="1798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8882" y="5700911"/>
            <a:ext cx="10568318" cy="267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Recommendation:</a:t>
            </a:r>
            <a:pPr algn="l"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Increase investment in Electronics while introducing promotional strategies to uplift Fashion sales.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6957"/>
            <a:ext cx="1598374" cy="9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Demographics</a:t>
            </a:r>
            <a:endParaRPr lang="en-US" sz="550" dirty="0"/>
          </a:p>
        </p:txBody>
      </p:sp>
      <p:sp>
        <p:nvSpPr>
          <p:cNvPr id="3" name="Text 1"/>
          <p:cNvSpPr/>
          <p:nvPr/>
        </p:nvSpPr>
        <p:spPr>
          <a:xfrm>
            <a:off x="734200" y="680541"/>
            <a:ext cx="1821710" cy="151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Sales by Gender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865287"/>
            <a:ext cx="6970141" cy="390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200" y="4802981"/>
            <a:ext cx="1367101" cy="9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Observations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2988692" y="5374084"/>
            <a:ext cx="838576" cy="170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52%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718" y="4947940"/>
            <a:ext cx="1022721" cy="10227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29271" y="6009779"/>
            <a:ext cx="757516" cy="9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Male Customers</a:t>
            </a:r>
            <a:endParaRPr lang="en-US" sz="550" dirty="0"/>
          </a:p>
        </p:txBody>
      </p:sp>
      <p:sp>
        <p:nvSpPr>
          <p:cNvPr id="9" name="Text 5"/>
          <p:cNvSpPr/>
          <p:nvPr/>
        </p:nvSpPr>
        <p:spPr>
          <a:xfrm>
            <a:off x="8364130" y="5374084"/>
            <a:ext cx="838576" cy="170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48%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156" y="4947940"/>
            <a:ext cx="1022721" cy="10227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04808" y="6009779"/>
            <a:ext cx="757516" cy="9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Female Customers</a:t>
            </a:r>
            <a:endParaRPr lang="en-US" sz="550" dirty="0"/>
          </a:p>
        </p:txBody>
      </p:sp>
      <p:sp>
        <p:nvSpPr>
          <p:cNvPr id="12" name="Shape 7"/>
          <p:cNvSpPr/>
          <p:nvPr/>
        </p:nvSpPr>
        <p:spPr>
          <a:xfrm>
            <a:off x="734200" y="6146403"/>
            <a:ext cx="10723294" cy="6350"/>
          </a:xfrm>
          <a:prstGeom prst="roundRect">
            <a:avLst>
              <a:gd name="adj" fmla="val 59999"/>
            </a:avLst>
          </a:prstGeom>
          <a:solidFill>
            <a:srgbClr val="D7D4CC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734200" y="6202958"/>
            <a:ext cx="1436552" cy="94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Statistical Validation</a:t>
            </a:r>
            <a:endParaRPr lang="en-US" sz="550" dirty="0"/>
          </a:p>
        </p:txBody>
      </p:sp>
      <p:sp>
        <p:nvSpPr>
          <p:cNvPr id="14" name="Text 9"/>
          <p:cNvSpPr/>
          <p:nvPr/>
        </p:nvSpPr>
        <p:spPr>
          <a:xfrm>
            <a:off x="734200" y="6330950"/>
            <a:ext cx="11332879" cy="7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Independent Sample T-Test produced </a:t>
            </a:r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 = 0.4954</a:t>
            </a:r>
            <a:pPr algn="l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 Since </a:t>
            </a:r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 &gt; 0.05</a:t>
            </a:r>
            <a:pPr algn="l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there is </a:t>
            </a:r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no statistically significant difference</a:t>
            </a:r>
            <a:pPr algn="l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in average spending between male and female customers.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376859"/>
            <a:ext cx="43320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Product &amp; Geographic Insights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4200" y="1752104"/>
            <a:ext cx="611033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Where Revenue Comes From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83193" y="2532856"/>
            <a:ext cx="5407783" cy="2948186"/>
          </a:xfrm>
          <a:prstGeom prst="roundRect">
            <a:avLst>
              <a:gd name="adj" fmla="val 1707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92936" y="2721670"/>
            <a:ext cx="5597881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Product Insights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2936" y="3246239"/>
            <a:ext cx="4988296" cy="216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Laptop</a:t>
            </a:r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generated the highest revenue across all products.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Mobile</a:t>
            </a:r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ranked second, reinforcing technology dominance.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Electronics and tech accessories drive the majority of sales volume.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58076" y="2721670"/>
            <a:ext cx="571535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Geographic Insights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58076" y="3246239"/>
            <a:ext cx="5105768" cy="216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Patna</a:t>
            </a:r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generated the highest revenue among all cities.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Kolkata, Bengaluru and Mumbai demonstrated consistently strong performance.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Lower-performing cities present untapped opportunities for market expansion.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96999"/>
            <a:ext cx="23200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Monthly Performance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4200" y="821730"/>
            <a:ext cx="3188315" cy="303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Sales Trend Analysis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257796"/>
            <a:ext cx="6970141" cy="390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200" y="5350570"/>
            <a:ext cx="212471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Trend Analysis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34200" y="5628481"/>
            <a:ext cx="5195361" cy="60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Revenue increased steadily during the first half of the year.</a:t>
            </a:r>
            <a:endParaRPr lang="en-US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August and September experienced a noticeable decline.</a:t>
            </a:r>
            <a:endParaRPr lang="en-US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Strong recovery was observed during Q4.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8484" y="5350570"/>
            <a:ext cx="247792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Business Interpretation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68484" y="5628481"/>
            <a:ext cx="5195361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Seasonal demand fluctuations should be investigated to optimise inventory planning and marketing expenditure during low-performance periods.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96131"/>
            <a:ext cx="259093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Hypothesis Testing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734200" y="1104404"/>
            <a:ext cx="407143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Statistical Validation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734200" y="1727895"/>
            <a:ext cx="10723294" cy="3258840"/>
          </a:xfrm>
          <a:prstGeom prst="roundRect">
            <a:avLst>
              <a:gd name="adj" fmla="val 820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49" y="1734245"/>
            <a:ext cx="3213119" cy="46146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18941" y="1831479"/>
            <a:ext cx="346294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53768" y="1734245"/>
            <a:ext cx="7497377" cy="46146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135235" y="1831479"/>
            <a:ext cx="7747203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Result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41" y="2296120"/>
            <a:ext cx="346294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Null Hypothesis (H₀)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35235" y="2296120"/>
            <a:ext cx="7747203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Male and Female spending is equal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8941" y="2760762"/>
            <a:ext cx="346294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Alternative (H₁)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35235" y="2760762"/>
            <a:ext cx="7747203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Male and Female spending differs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941" y="3225403"/>
            <a:ext cx="346294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Test Used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35235" y="3225403"/>
            <a:ext cx="7747203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Independent Sample T-Test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8941" y="3690045"/>
            <a:ext cx="346294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 Statistic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35235" y="3690045"/>
            <a:ext cx="7747203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0.6820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941" y="4154686"/>
            <a:ext cx="346294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 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35235" y="4154686"/>
            <a:ext cx="7747203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0.4954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41" y="4619327"/>
            <a:ext cx="346294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35235" y="4619327"/>
            <a:ext cx="7747203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Fail to Reject H₀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4200" y="5157192"/>
            <a:ext cx="10723294" cy="904577"/>
          </a:xfrm>
          <a:prstGeom prst="roundRect">
            <a:avLst>
              <a:gd name="adj" fmla="val 29571"/>
            </a:avLst>
          </a:prstGeom>
          <a:solidFill>
            <a:srgbClr val="806A0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492" y="5401766"/>
            <a:ext cx="222840" cy="1782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13623" y="5353248"/>
            <a:ext cx="9965580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Interpretation:</a:t>
            </a:r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Customer spending behaviour is independent of gender. Marketing campaigns may continue targeting both demographics equally.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3008313"/>
            <a:ext cx="294930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Actionable Insights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4200" y="3383558"/>
            <a:ext cx="610993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Strategic Recommendations</a:t>
            </a:r>
            <a:endParaRPr lang="en-US" sz="2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685998"/>
            <a:ext cx="259093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Takeaways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734200" y="994271"/>
            <a:ext cx="377984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734200" y="1617762"/>
            <a:ext cx="6151409" cy="958949"/>
          </a:xfrm>
          <a:prstGeom prst="roundRect">
            <a:avLst>
              <a:gd name="adj" fmla="val 27895"/>
            </a:avLst>
          </a:prstGeom>
          <a:solidFill>
            <a:srgbClr val="46464A"/>
          </a:solidFill>
          <a:ln/>
        </p:spPr>
      </p:sp>
      <p:sp>
        <p:nvSpPr>
          <p:cNvPr id="6" name="Text 3"/>
          <p:cNvSpPr/>
          <p:nvPr/>
        </p:nvSpPr>
        <p:spPr>
          <a:xfrm>
            <a:off x="912492" y="1796058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KPIs Calculated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2492" y="2134592"/>
            <a:ext cx="579482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Five core metrics established a comprehensive revenue baseline.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4200" y="2728218"/>
            <a:ext cx="6151409" cy="1222772"/>
          </a:xfrm>
          <a:prstGeom prst="roundRect">
            <a:avLst>
              <a:gd name="adj" fmla="val 21876"/>
            </a:avLst>
          </a:prstGeom>
          <a:solidFill>
            <a:srgbClr val="46464A"/>
          </a:solidFill>
          <a:ln/>
        </p:spPr>
      </p:sp>
      <p:sp>
        <p:nvSpPr>
          <p:cNvPr id="9" name="Text 6"/>
          <p:cNvSpPr/>
          <p:nvPr/>
        </p:nvSpPr>
        <p:spPr>
          <a:xfrm>
            <a:off x="912492" y="2906514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Charts Created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2492" y="3245048"/>
            <a:ext cx="5794825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Category, gender, product, geographic and trend visualisations delivered.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4200" y="4102497"/>
            <a:ext cx="6151409" cy="958949"/>
          </a:xfrm>
          <a:prstGeom prst="roundRect">
            <a:avLst>
              <a:gd name="adj" fmla="val 27895"/>
            </a:avLst>
          </a:prstGeom>
          <a:solidFill>
            <a:srgbClr val="46464A"/>
          </a:solidFill>
          <a:ln/>
        </p:spPr>
      </p:sp>
      <p:sp>
        <p:nvSpPr>
          <p:cNvPr id="12" name="Text 9"/>
          <p:cNvSpPr/>
          <p:nvPr/>
        </p:nvSpPr>
        <p:spPr>
          <a:xfrm>
            <a:off x="912492" y="4280793"/>
            <a:ext cx="22103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Hypothesis Validated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12492" y="4619327"/>
            <a:ext cx="579482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T-Test confirmed no significant gender-based spending difference.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4200" y="5212953"/>
            <a:ext cx="6151409" cy="958949"/>
          </a:xfrm>
          <a:prstGeom prst="roundRect">
            <a:avLst>
              <a:gd name="adj" fmla="val 27895"/>
            </a:avLst>
          </a:prstGeom>
          <a:solidFill>
            <a:srgbClr val="46464A"/>
          </a:solidFill>
          <a:ln/>
        </p:spPr>
      </p:sp>
      <p:sp>
        <p:nvSpPr>
          <p:cNvPr id="15" name="Text 12"/>
          <p:cNvSpPr/>
          <p:nvPr/>
        </p:nvSpPr>
        <p:spPr>
          <a:xfrm>
            <a:off x="912492" y="5391249"/>
            <a:ext cx="294424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Recommendations Delivered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12492" y="5729784"/>
            <a:ext cx="579482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Five strategic actions proposed to optimise revenue and growth.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2026-07-04T08:56:32Z</dcterms:created>
  <dcterms:modified xsi:type="dcterms:W3CDTF">2026-07-04T08:56:32Z</dcterms:modified>
</cp:coreProperties>
</file>